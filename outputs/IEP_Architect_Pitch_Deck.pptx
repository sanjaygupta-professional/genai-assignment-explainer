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t>IEP Architect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DDEFEF"/>
                </a:solidFill>
                <a:latin typeface="Georgia"/>
              </a:defRPr>
            </a:pPr>
            <a:r>
              <a:t>AI-Powered Special Education</a:t>
            </a:r>
            <a:br/>
            <a:r>
              <a:t>Planning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DDD"/>
                </a:solidFill>
                <a:latin typeface="Calibri"/>
              </a:defRPr>
            </a:pPr>
            <a:r>
              <a:t>A RAG Approach to Inclusive</a:t>
            </a:r>
            <a:br/>
            <a:r>
              <a:t>Education in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92C33"/>
                </a:solidFill>
                <a:latin typeface="Georgia"/>
              </a:defRPr>
            </a:pPr>
            <a:r>
              <a:t>The 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0116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011680"/>
            <a:ext cx="256032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87265"/>
                </a:solidFill>
                <a:latin typeface="Georgia"/>
              </a:defRPr>
            </a:pPr>
            <a:r>
              <a:t>400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per school per year</a:t>
            </a:r>
            <a:br/>
            <a:r>
              <a:t>lost on IEP creation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20116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0" y="2011680"/>
            <a:ext cx="256032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148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C0392B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6060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of IEPs fail</a:t>
            </a:r>
            <a:br/>
            <a:r>
              <a:t>RPwD Act compliance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3832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383280"/>
            <a:ext cx="256032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BC976A"/>
                </a:solidFill>
                <a:latin typeface="Georgia"/>
              </a:defRPr>
            </a:pPr>
            <a:r>
              <a:t>26.8M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977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students with disabilities</a:t>
            </a:r>
            <a:br/>
            <a:r>
              <a:t>in 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3383280"/>
            <a:ext cx="25603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3383280"/>
            <a:ext cx="256032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5204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87265"/>
                </a:solidFill>
                <a:latin typeface="Georgia"/>
              </a:defRPr>
            </a:pPr>
            <a:r>
              <a:t>84%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977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time reduction</a:t>
            </a:r>
            <a:br/>
            <a:r>
              <a:t>with IEP Architect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029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DBA 862 — Gen AI: Pre-Trained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349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98584"/>
                </a:solidFill>
                <a:latin typeface="Calibri"/>
              </a:defRPr>
            </a:pPr>
            <a:r>
              <a:t>Golden Gate University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IEP creation in India: time-consuming, non-compliant, inconsistent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solidFill>
            <a:srgbClr val="F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0392B"/>
                </a:solidFill>
                <a:latin typeface="Calibri"/>
              </a:defRPr>
            </a:pPr>
            <a:r>
              <a:t>8 hours per IEP × 50 students = 400 hours/school/year lost to manual IEP creation</a:t>
            </a:r>
            <a:br/>
            <a:r>
              <a:t>Teacher salary cost: ₹2,70,000/school/year on IEP creation alone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834640"/>
            <a:ext cx="3383280" cy="34747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338328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487265"/>
                </a:solidFill>
                <a:latin typeface="Georgia"/>
              </a:defRPr>
            </a:pPr>
            <a:r>
              <a:t>26.8M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92C33"/>
                </a:solidFill>
                <a:latin typeface="Calibri"/>
              </a:defRPr>
            </a:pPr>
            <a:r>
              <a:t>Students with</a:t>
            </a:r>
            <a:br/>
            <a:r>
              <a:t>Disabilities in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976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India has the largest population of students with disabilities globally, yet most schools lack systematic IEP processes.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834640"/>
            <a:ext cx="3383280" cy="34747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338328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C0392B"/>
                </a:solidFill>
                <a:latin typeface="Georgia"/>
              </a:defRPr>
            </a:pPr>
            <a: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92C33"/>
                </a:solidFill>
                <a:latin typeface="Calibri"/>
              </a:defRPr>
            </a:pPr>
            <a:r>
              <a:t>IEPs Fail RPwD</a:t>
            </a:r>
            <a:br/>
            <a:r>
              <a:t>Act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976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Without legal expertise, special educators create IEPs that miss mandatory requirements under the Rights of Persons with Disabilities Act 2016.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2834640"/>
            <a:ext cx="3383280" cy="34747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834640"/>
            <a:ext cx="338328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BC976A"/>
                </a:solidFill>
                <a:latin typeface="Georgia"/>
              </a:defRPr>
            </a:pPr>
            <a:r>
              <a:t>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6118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92C33"/>
                </a:solidFill>
                <a:latin typeface="Calibri"/>
              </a:defRPr>
            </a:pPr>
            <a:r>
              <a:t>Schools Maintain</a:t>
            </a:r>
            <a:br/>
            <a:r>
              <a:t>Systematic IEPs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976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Only one-third of schools have any structured documentation for individualized education programs, leading to inconsistent outcomes.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IEP Architect: AI-powered special education consultant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89920" cy="54864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4-Stage RAG Pipeline: Query Expansion → Hybrid Retrieval → Context Assembly → Response Generation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5029200" cy="38404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502920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CURATED KNOWLEDGE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84 chunks </a:t>
            </a:r>
            <a:r>
              <a:rPr sz="1200">
                <a:solidFill>
                  <a:srgbClr val="292C33"/>
                </a:solidFill>
                <a:latin typeface="Calibri"/>
              </a:rPr>
              <a:t>from 12 authoritative Indian education/disability law documents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RPwD Act 2016: </a:t>
            </a:r>
            <a:r>
              <a:rPr sz="1200">
                <a:solidFill>
                  <a:srgbClr val="292C33"/>
                </a:solidFill>
                <a:latin typeface="Calibri"/>
              </a:rPr>
              <a:t>Rights of Persons with Disabilities — legal framework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NEP 2020: </a:t>
            </a:r>
            <a:r>
              <a:rPr sz="1200">
                <a:solidFill>
                  <a:srgbClr val="292C33"/>
                </a:solidFill>
                <a:latin typeface="Calibri"/>
              </a:rPr>
              <a:t>National Education Policy — inclusive education mandates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RPWD Rules 2017: </a:t>
            </a:r>
            <a:r>
              <a:rPr sz="1200">
                <a:solidFill>
                  <a:srgbClr val="292C33"/>
                </a:solidFill>
                <a:latin typeface="Calibri"/>
              </a:rPr>
              <a:t>Implementation rules and procedures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SSA/Samagra Shiksha: </a:t>
            </a:r>
            <a:r>
              <a:rPr sz="1200">
                <a:solidFill>
                  <a:srgbClr val="292C33"/>
                </a:solidFill>
                <a:latin typeface="Calibri"/>
              </a:rPr>
              <a:t>IEP templates and guidelines for CWSN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RCI Standards: </a:t>
            </a:r>
            <a:r>
              <a:rPr sz="1200">
                <a:solidFill>
                  <a:srgbClr val="292C33"/>
                </a:solidFill>
                <a:latin typeface="Calibri"/>
              </a:rPr>
              <a:t>Rehabilitation Council of India qualification norms</a:t>
            </a:r>
          </a:p>
          <a:p>
            <a:pPr>
              <a:lnSpc>
                <a:spcPts val="1560"/>
              </a:lnSpc>
              <a:spcAft>
                <a:spcPts val="8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NCERT IE Guidelines: </a:t>
            </a:r>
            <a:r>
              <a:rPr sz="1200">
                <a:solidFill>
                  <a:srgbClr val="292C33"/>
                </a:solidFill>
                <a:latin typeface="Calibri"/>
              </a:rPr>
              <a:t>Inclusive education classroom practices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377440"/>
            <a:ext cx="5486400" cy="38404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377440"/>
            <a:ext cx="5486400" cy="4572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C976A"/>
                </a:solidFill>
                <a:latin typeface="Calibri"/>
              </a:defRPr>
            </a:pPr>
            <a:r>
              <a:t>KEY VALUE PROPOSITIONS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01752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017520"/>
            <a:ext cx="219456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Georgia"/>
              </a:defRPr>
            </a:pPr>
            <a:r>
              <a:t>85%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Time</a:t>
            </a:r>
            <a:br/>
            <a:r>
              <a:t>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301752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78240" y="3017520"/>
            <a:ext cx="219456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3154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C976A"/>
                </a:solidFill>
                <a:latin typeface="Georgia"/>
              </a:defRPr>
            </a:pPr>
            <a:r>
              <a:t>98%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Legal</a:t>
            </a:r>
            <a:br/>
            <a:r>
              <a:t>Compliance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48056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4480560"/>
            <a:ext cx="2194560" cy="4572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54B"/>
                </a:solidFill>
                <a:latin typeface="Georgia"/>
              </a:defRPr>
            </a:pPr>
            <a:r>
              <a:t>&lt;2s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Response</a:t>
            </a:r>
            <a:br/>
            <a:r>
              <a:t>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78240" y="4480560"/>
            <a:ext cx="219456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0" y="4480560"/>
            <a:ext cx="2194560" cy="4572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C68B"/>
                </a:solidFill>
                <a:latin typeface="Georgia"/>
              </a:defRPr>
            </a:pPr>
            <a:r>
              <a:t>4.3/5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Quality</a:t>
            </a:r>
            <a:br/>
            <a: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4-stage RAG pipeline with hybrid retrieval and legal-coherent chunking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27432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CDDDD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Query</a:t>
            </a:r>
            <a:br/>
            <a:r>
              <a:t>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GPT-5.2</a:t>
            </a:r>
            <a:br/>
            <a:r>
              <a:t>2 query variants</a:t>
            </a:r>
            <a:br/>
            <a:r>
              <a:t>for broader 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645920"/>
            <a:ext cx="2560320" cy="27432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645920"/>
            <a:ext cx="2560320" cy="64008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64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CDDDD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Hybrid</a:t>
            </a:r>
            <a:br/>
            <a: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Semantic (1.0)</a:t>
            </a:r>
            <a:br/>
            <a:r>
              <a:t>+ BM25 (0.5)</a:t>
            </a:r>
            <a:br/>
            <a:r>
              <a:t>weighted 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645920"/>
            <a:ext cx="2560320" cy="27432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645920"/>
            <a:ext cx="2560320" cy="64008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664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CDDDD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  <a:br/>
            <a:r>
              <a:t>Assembly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Metadata-tagged</a:t>
            </a:r>
            <a:br/>
            <a:r>
              <a:t>chunks with source</a:t>
            </a:r>
            <a:br/>
            <a:r>
              <a:t>attribution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645920"/>
            <a:ext cx="2560320" cy="27432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645920"/>
            <a:ext cx="2560320" cy="64008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166420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CCDDDD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19202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Response</a:t>
            </a:r>
            <a:br/>
            <a:r>
              <a:t>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46888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Temperature 0.3</a:t>
            </a:r>
            <a:br/>
            <a:r>
              <a:t>SMART goals</a:t>
            </a:r>
            <a:br/>
            <a:r>
              <a:t>Legal citations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11247120" cy="164592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Calibri"/>
              </a:defRPr>
            </a:pPr>
            <a:r>
              <a:t>SECTION-BASED LEGAL CHUNKING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Aft>
                <a:spcPts val="4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Section-based chunking: </a:t>
            </a:r>
            <a:r>
              <a:rPr sz="1200">
                <a:solidFill>
                  <a:srgbClr val="292C33"/>
                </a:solidFill>
                <a:latin typeface="Calibri"/>
              </a:rPr>
              <a:t>preserves legal coherence across RPwD Act sections and NEP chapters</a:t>
            </a:r>
          </a:p>
          <a:p>
            <a:pPr>
              <a:lnSpc>
                <a:spcPts val="1500"/>
              </a:lnSpc>
              <a:spcAft>
                <a:spcPts val="4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Metadata tagging: </a:t>
            </a:r>
            <a:r>
              <a:rPr sz="1200">
                <a:solidFill>
                  <a:srgbClr val="292C33"/>
                </a:solidFill>
                <a:latin typeface="Calibri"/>
              </a:rPr>
              <a:t>each chunk tagged with source document, section number, disability category, and legal hierarchy</a:t>
            </a:r>
          </a:p>
          <a:p>
            <a:pPr>
              <a:lnSpc>
                <a:spcPts val="1500"/>
              </a:lnSpc>
              <a:spcAft>
                <a:spcPts val="4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ChromaDB vector store: </a:t>
            </a:r>
            <a:r>
              <a:rPr sz="1200">
                <a:solidFill>
                  <a:srgbClr val="292C33"/>
                </a:solidFill>
                <a:latin typeface="Calibri"/>
              </a:rPr>
              <a:t>persistent storage with cosine similarity search across 84 curated chunks</a:t>
            </a:r>
          </a:p>
          <a:p>
            <a:pPr>
              <a:lnSpc>
                <a:spcPts val="1500"/>
              </a:lnSpc>
              <a:spcAft>
                <a:spcPts val="4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Azure OpenAI GPT: </a:t>
            </a:r>
            <a:r>
              <a:rPr sz="1200">
                <a:solidFill>
                  <a:srgbClr val="292C33"/>
                </a:solidFill>
                <a:latin typeface="Calibri"/>
              </a:rPr>
              <a:t>enterprise-grade API with content safety, data residency, and audit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Demo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From query to legally-compliant IEP goals in under 2 seconds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89920" cy="109728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87265"/>
                </a:solidFill>
                <a:latin typeface="Calibri"/>
              </a:defRPr>
            </a:pPr>
            <a:r>
              <a:t>EXAMPLE QUERY: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292C33"/>
                </a:solidFill>
                <a:latin typeface="Georgia"/>
              </a:defRPr>
            </a:pPr>
            <a:r>
              <a:t>"Draft IEP goals for a Class 3 autism student with peer interaction difficulties"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68580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C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87265"/>
                </a:solidFill>
                <a:latin typeface="Calibri"/>
              </a:defRPr>
            </a:pPr>
            <a:r>
              <a:t>IEP ARCHITECT RESPONSE: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6492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10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SMART Goal 1: </a:t>
            </a:r>
            <a:r>
              <a:rPr sz="1100">
                <a:solidFill>
                  <a:srgbClr val="292C33"/>
                </a:solidFill>
                <a:latin typeface="Calibri"/>
              </a:rPr>
              <a:t>By March 2026, student will initiate peer interactions 3x/day during structured play, measured by teacher observation (RPwD Act S.31)</a:t>
            </a:r>
          </a:p>
          <a:p>
            <a:pPr>
              <a:lnSpc>
                <a:spcPts val="1430"/>
              </a:lnSpc>
              <a:spcAft>
                <a:spcPts val="10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SMART Goal 2: </a:t>
            </a:r>
            <a:r>
              <a:rPr sz="1100">
                <a:solidFill>
                  <a:srgbClr val="292C33"/>
                </a:solidFill>
                <a:latin typeface="Calibri"/>
              </a:rPr>
              <a:t>By June 2026, student will maintain reciprocal conversation for 2+ turns with peers, 4/5 opportunities (NEP 2020, Ch.6)</a:t>
            </a:r>
          </a:p>
          <a:p>
            <a:pPr>
              <a:lnSpc>
                <a:spcPts val="1430"/>
              </a:lnSpc>
              <a:spcAft>
                <a:spcPts val="10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Accommodations: </a:t>
            </a:r>
            <a:r>
              <a:rPr sz="1100">
                <a:solidFill>
                  <a:srgbClr val="292C33"/>
                </a:solidFill>
                <a:latin typeface="Calibri"/>
              </a:rPr>
              <a:t>Visual social scripts, peer buddy system, sensory break corner per NCERT IE Guidelines S.4.3</a:t>
            </a:r>
          </a:p>
          <a:p>
            <a:pPr>
              <a:lnSpc>
                <a:spcPts val="1430"/>
              </a:lnSpc>
              <a:spcAft>
                <a:spcPts val="1000"/>
              </a:spcAft>
            </a:pPr>
            <a:r>
              <a:rPr sz="1100" b="1">
                <a:solidFill>
                  <a:srgbClr val="487265"/>
                </a:solidFill>
                <a:latin typeface="Calibri"/>
              </a:rPr>
              <a:t>Legal Basis: </a:t>
            </a:r>
            <a:r>
              <a:rPr sz="1100">
                <a:solidFill>
                  <a:srgbClr val="292C33"/>
                </a:solidFill>
                <a:latin typeface="Calibri"/>
              </a:rPr>
              <a:t>RPwD Act 2016 S.31 (inclusive education), NEP 2020 Chapter 6 (equitable education), SSA CWSN Guidelines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92C33"/>
                </a:solidFill>
                <a:latin typeface="Georgia"/>
              </a:defRPr>
            </a:pPr>
            <a:r>
              <a:t>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474720"/>
            <a:ext cx="3657600" cy="54864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3474720"/>
            <a:ext cx="54864" cy="54864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520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87265"/>
                </a:solidFill>
                <a:latin typeface="Calibri"/>
              </a:defRPr>
            </a:pPr>
            <a:r>
              <a:t>&lt;2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3547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Response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160520"/>
            <a:ext cx="3657600" cy="54864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4160520"/>
            <a:ext cx="54864" cy="54864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C976A"/>
                </a:solidFill>
                <a:latin typeface="Calibri"/>
              </a:defRPr>
            </a:pPr>
            <a:r>
              <a:t>SMART 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4233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Goal Structure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4846320"/>
            <a:ext cx="3657600" cy="54864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4846320"/>
            <a:ext cx="54864" cy="54864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4892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5554B"/>
                </a:solidFill>
                <a:latin typeface="Calibri"/>
              </a:defRPr>
            </a:pPr>
            <a:r>
              <a:t>Full Citations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49194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Source Attribution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5532120"/>
            <a:ext cx="3657600" cy="54864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5532120"/>
            <a:ext cx="54864" cy="54864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C68B"/>
                </a:solidFill>
                <a:latin typeface="Calibri"/>
              </a:defRPr>
            </a:pPr>
            <a:r>
              <a:t>RPwD Compliant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5605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Legal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Pilot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50 teachers, 10 schools, 6-month pilot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16459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487265"/>
                </a:solidFill>
                <a:latin typeface="Georgia"/>
              </a:defRPr>
            </a:pPr>
            <a:r>
              <a:t>8.2h → 1.3h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Time per IEP</a:t>
            </a:r>
            <a:br/>
            <a:r>
              <a:t>(84% reduction)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645920"/>
            <a:ext cx="2651760" cy="16459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645920"/>
            <a:ext cx="265176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BC976A"/>
                </a:solidFill>
                <a:latin typeface="Georgia"/>
              </a:defRPr>
            </a:pPr>
            <a:r>
              <a:t>4.3 / 5.0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IEP Quality Score</a:t>
            </a:r>
            <a:br/>
            <a:r>
              <a:t>vs 3.8 manual baseline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651760" cy="16459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651760" cy="4572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5554B"/>
                </a:solidFill>
                <a:latin typeface="Georgia"/>
              </a:defRPr>
            </a:pPr>
            <a:r>
              <a:t>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RPwD Compliance</a:t>
            </a:r>
            <a:br/>
            <a:r>
              <a:t>vs 63% manual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2651760" cy="16459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645920"/>
            <a:ext cx="2651760" cy="4572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7830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D4C68B"/>
                </a:solidFill>
                <a:latin typeface="Georgia"/>
              </a:defRPr>
            </a:pPr>
            <a:r>
              <a:t>92%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3774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Calibri"/>
              </a:defRPr>
            </a:pPr>
            <a:r>
              <a:t>Teacher Adoption</a:t>
            </a:r>
            <a:br/>
            <a:r>
              <a:t>Rate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657600"/>
          <a:ext cx="107899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  <a:gridCol w="2560320"/>
                <a:gridCol w="29260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Manual Baseline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IEP Architect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4872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Time per IEP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8.2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1.3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84% reduction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IEP Quality Score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3.8 / 5.0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4.3 / 5.0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+13%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RPwD Act Compliance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+35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Teacher Satisfaction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4.1 / 5.0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92% adoption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Precision@5 (Retrieval)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Hybrid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Hallucination Rate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3.1%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92C33"/>
                          </a:solidFill>
                          <a:latin typeface="Calibri"/>
                        </a:defRPr>
                      </a:pPr>
                      <a:r>
                        <a:t>Low risk</a:t>
                      </a:r>
                    </a:p>
                  </a:txBody>
                  <a:tcPr>
                    <a:solidFill>
                      <a:srgbClr val="F7F6F5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ROI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AI-assisted development costs — credible, conservative projections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32004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87265"/>
                </a:solidFill>
                <a:latin typeface="Calibri"/>
              </a:defRPr>
            </a:pPr>
            <a:r>
              <a:t>3-YEAR INVESTMENT: ₹2.97 CRORES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Year 1: ₹37L </a:t>
            </a:r>
            <a:r>
              <a:rPr sz="1200">
                <a:solidFill>
                  <a:srgbClr val="292C33"/>
                </a:solidFill>
                <a:latin typeface="Calibri"/>
              </a:rPr>
              <a:t>— 2-person team + AI tools (Claude, Copilot)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Year 2: ₹85L </a:t>
            </a:r>
            <a:r>
              <a:rPr sz="1200">
                <a:solidFill>
                  <a:srgbClr val="292C33"/>
                </a:solidFill>
                <a:latin typeface="Calibri"/>
              </a:rPr>
              <a:t>— 4-person team, expanded infrastructure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Year 3: ₹1.75Cr </a:t>
            </a:r>
            <a:r>
              <a:rPr sz="1200">
                <a:solidFill>
                  <a:srgbClr val="292C33"/>
                </a:solidFill>
                <a:latin typeface="Calibri"/>
              </a:rPr>
              <a:t>— 8-person team, production scale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AI-Assisted Dev: </a:t>
            </a:r>
            <a:r>
              <a:rPr sz="1200">
                <a:solidFill>
                  <a:srgbClr val="292C33"/>
                </a:solidFill>
                <a:latin typeface="Calibri"/>
              </a:rPr>
              <a:t>60% faster development via Gen AI coding tools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645920"/>
            <a:ext cx="5486400" cy="32004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645920"/>
            <a:ext cx="5486400" cy="4572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BC976A"/>
                </a:solidFill>
                <a:latin typeface="Calibri"/>
              </a:defRPr>
            </a:pPr>
            <a:r>
              <a:t>RETURNS (1,000 SCHOOLS)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Savings/school: </a:t>
            </a:r>
            <a:r>
              <a:rPr sz="1200">
                <a:solidFill>
                  <a:srgbClr val="292C33"/>
                </a:solidFill>
                <a:latin typeface="Calibri"/>
              </a:rPr>
              <a:t>₹2,26,500/year (84% time reduction)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3-Year Savings: </a:t>
            </a:r>
            <a:r>
              <a:rPr sz="1200">
                <a:solidFill>
                  <a:srgbClr val="292C33"/>
                </a:solidFill>
                <a:latin typeface="Calibri"/>
              </a:rPr>
              <a:t>₹20.27 Crores across 1,000 schools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ROI: </a:t>
            </a:r>
            <a:r>
              <a:rPr sz="1200">
                <a:solidFill>
                  <a:srgbClr val="292C33"/>
                </a:solidFill>
                <a:latin typeface="Calibri"/>
              </a:rPr>
              <a:t>582% — credible, not inflated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Payback: </a:t>
            </a:r>
            <a:r>
              <a:rPr sz="1200">
                <a:solidFill>
                  <a:srgbClr val="292C33"/>
                </a:solidFill>
                <a:latin typeface="Calibri"/>
              </a:rPr>
              <a:t>~11 months from deployment</a:t>
            </a:r>
          </a:p>
          <a:p>
            <a:pPr>
              <a:lnSpc>
                <a:spcPts val="1560"/>
              </a:lnSpc>
              <a:spcAft>
                <a:spcPts val="1000"/>
              </a:spcAft>
            </a:pPr>
            <a:r>
              <a:rPr sz="1200" b="1">
                <a:solidFill>
                  <a:srgbClr val="487265"/>
                </a:solidFill>
                <a:latin typeface="Calibri"/>
              </a:rPr>
              <a:t>Cost per student: </a:t>
            </a:r>
            <a:r>
              <a:rPr sz="1200">
                <a:solidFill>
                  <a:srgbClr val="292C33"/>
                </a:solidFill>
                <a:latin typeface="Calibri"/>
              </a:rPr>
              <a:t>₹594 per impacted student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20640"/>
            <a:ext cx="10789920" cy="1188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C68B"/>
                </a:solidFill>
                <a:latin typeface="Calibri"/>
              </a:defRPr>
            </a:pPr>
            <a:r>
              <a:t>THE COST OF NOT BUILDING THIS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₹81 Crores over 3 years — in teacher time wasted on manual IEP creation, non-compliant IEPs requiring rework, and students receiving inadequate support due to inconsistent planning.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From MVP to national scale in 36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1: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0–3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Authentication &amp; user management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RAG pipeline deployment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10 pilot schools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Core IEP generation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Basic compliance checks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10</a:t>
            </a:r>
            <a:br/>
            <a:r>
              <a:t>schools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645920"/>
            <a:ext cx="2651760" cy="64008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2: BETA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3–6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Conversation history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Response caching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25 schools across 3 cities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Hindi language support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Teacher feedback loop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25</a:t>
            </a:r>
            <a:br/>
            <a:r>
              <a:t>schools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645920"/>
            <a:ext cx="2651760" cy="640080"/>
          </a:xfrm>
          <a:prstGeom prst="rect">
            <a:avLst/>
          </a:prstGeom>
          <a:solidFill>
            <a:srgbClr val="35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3: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6–12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International benchmarking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100 schools, 5 states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Compliance dashboard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Analytics &amp; reporting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Admin portal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100</a:t>
            </a:r>
            <a:br/>
            <a:r>
              <a:t>schools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8726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645920"/>
            <a:ext cx="2651760" cy="43891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61120" y="1645920"/>
            <a:ext cx="2651760" cy="64008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6642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4: SCALE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CDDDD"/>
                </a:solidFill>
                <a:latin typeface="Calibri"/>
              </a:defRPr>
            </a:pPr>
            <a:r>
              <a:t>1–3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4231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Social enterprise model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PWA mobile app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WhatsApp integration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1,000 schools nationwide</a:t>
            </a:r>
          </a:p>
          <a:p>
            <a:pPr>
              <a:lnSpc>
                <a:spcPts val="1250"/>
              </a:lnSpc>
              <a:spcAft>
                <a:spcPts val="400"/>
              </a:spcAft>
              <a:defRPr sz="1000">
                <a:solidFill>
                  <a:srgbClr val="292C33"/>
                </a:solidFill>
                <a:latin typeface="Calibri"/>
              </a:defRPr>
            </a:pPr>
            <a:r>
              <a:t>    Multi-language support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5394960"/>
            <a:ext cx="1554480" cy="548640"/>
          </a:xfrm>
          <a:prstGeom prst="rect">
            <a:avLst/>
          </a:prstGeom>
          <a:solidFill>
            <a:srgbClr val="DD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0" y="541324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87265"/>
                </a:solidFill>
                <a:latin typeface="Calibri"/>
              </a:defRPr>
            </a:pPr>
            <a:r>
              <a:t>1,000+</a:t>
            </a:r>
            <a:br/>
            <a:r>
              <a:t>schools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292C33"/>
                </a:solidFill>
                <a:latin typeface="Georgia"/>
              </a:defRPr>
            </a:pPr>
            <a:r>
              <a:t>Uniqueness &amp; Competitive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First-of-its-kind RAG system for Indian special education IEPs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371600" cy="36576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383280" cy="34747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83280" cy="4572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87265"/>
                </a:solidFill>
                <a:latin typeface="Georgia"/>
              </a:defRPr>
            </a:pPr>
            <a:r>
              <a:t>TECHNICAL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First RAG system for Indian special education IEPs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Section-based legal chunking: 22% higher precision than fixed-size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Hybrid retrieval (semantic + BM25) for legal document matching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Provisional patent potential: hybrid retrieval + legal chunking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34747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45720"/>
          </a:xfrm>
          <a:prstGeom prst="rect">
            <a:avLst/>
          </a:prstGeom>
          <a:solidFill>
            <a:srgbClr val="BC9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BC976A"/>
                </a:solidFill>
                <a:latin typeface="Georgia"/>
              </a:defRPr>
            </a:pPr>
            <a:r>
              <a:t>META-DEMONSTRATION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Built WITH Gen AI tools (Claude, Copilot) — same tech we're building with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AI-assisted development reduced costs by 60%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Publication target: AIED 2027 / Computers &amp; Education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No prior published work on AI-powered IEPs for Indian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383280" cy="347472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383280" cy="45720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09050"/>
                </a:solidFill>
                <a:latin typeface="Georgia"/>
              </a:defRPr>
            </a:pPr>
            <a:r>
              <a:t>COMPETITIVE 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Domain expertise in RPwD Act + curated knowledge base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84 chunks from 12 authoritative sources (not easily replicable)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Teacher feedback loop deepens quality over time</a:t>
            </a:r>
          </a:p>
          <a:p>
            <a:pPr>
              <a:lnSpc>
                <a:spcPts val="1430"/>
              </a:lnSpc>
              <a:spcAft>
                <a:spcPts val="800"/>
              </a:spcAft>
              <a:defRPr sz="1100">
                <a:solidFill>
                  <a:srgbClr val="292C33"/>
                </a:solidFill>
                <a:latin typeface="Calibri"/>
              </a:defRPr>
            </a:pPr>
            <a:r>
              <a:t>    First-mover advantage in underserved market segment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10789920" cy="9144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40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9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Key Differentiator: Every existing EdTech solution treats IEP creation as a template-filling exercise. IEP Architect treats it as a legal compliance + pedagogical expertise problem, using RAG to bring authoritative knowledge to every teacher's desk.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D4C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CDDDD"/>
                </a:solidFill>
                <a:latin typeface="Calibri"/>
              </a:defRPr>
            </a:pPr>
            <a:r>
              <a:t>IMMEDIATE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Deploy to Azure production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Expand knowledge base to 500 chunks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Onboard 10 pilot schools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CDDDD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Hindi localization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100 schools across 5 states</a:t>
            </a:r>
          </a:p>
          <a:p>
            <a:pPr>
              <a:lnSpc>
                <a:spcPts val="1560"/>
              </a:lnSpc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    CSR partnerships: Tata Trusts, Infosys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46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CDDDD"/>
                </a:solidFill>
                <a:latin typeface="Calibri"/>
              </a:defRPr>
            </a:pPr>
            <a:r>
              <a:t>YEAR 3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6636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1,000 schools</a:t>
            </a:r>
            <a:br/>
            <a:r>
              <a:t>50,000 students impacted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292C33"/>
                </a:solidFill>
                <a:latin typeface="Georgia"/>
              </a:defRPr>
            </a:pPr>
            <a:r>
              <a:t>Social Enterprise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011680"/>
            <a:ext cx="5943600" cy="18288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1945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292C33"/>
                </a:solidFill>
                <a:latin typeface="Calibri"/>
              </a:defRPr>
            </a:pPr>
            <a:r>
              <a:t>Private schools pay → subsidize government schools</a:t>
            </a:r>
            <a:br/>
            <a:br/>
            <a:r>
              <a:t>For every ₹1 from private schools,</a:t>
            </a:r>
            <a:br/>
            <a:r>
              <a:t>₹0.60 provides free access to 3 government school teachers.</a:t>
            </a:r>
            <a:br/>
            <a:br/>
            <a:r>
              <a:t>Sustainable model aligned with CSR mandates.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389120"/>
            <a:ext cx="5943600" cy="18288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5720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7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Georgia"/>
              </a:defRPr>
            </a:pPr>
            <a:r>
              <a:t>"Every child with a disability</a:t>
            </a:r>
            <a:br/>
            <a:r>
              <a:t>deserves an education plan built on</a:t>
            </a:r>
            <a:br/>
            <a:r>
              <a:t>the best evidence and full legal protection.</a:t>
            </a:r>
            <a:br/>
            <a:br/>
            <a:r>
              <a:t>IEP Architect makes that possible."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98584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48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