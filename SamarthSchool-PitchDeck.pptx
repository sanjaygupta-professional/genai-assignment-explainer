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t>SamarthSchool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DDEFEF"/>
                </a:solidFill>
                <a:latin typeface="Georgia"/>
              </a:defRPr>
            </a:pPr>
            <a:r>
              <a:t>समर्थ स्कूल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DDDD"/>
                </a:solidFill>
                <a:latin typeface="Calibri"/>
              </a:defRPr>
            </a:pPr>
            <a:r>
              <a:t>AI-Powered Benefits Navigator</a:t>
            </a:r>
            <a:br/>
            <a:r>
              <a:t>for Children with Special 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1828800" cy="36576"/>
          </a:xfrm>
          <a:prstGeom prst="rect">
            <a:avLst/>
          </a:prstGeom>
          <a:solidFill>
            <a:srgbClr val="D4C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92C33"/>
                </a:solidFill>
                <a:latin typeface="Georgia"/>
              </a:defRPr>
            </a:pPr>
            <a:r>
              <a:t>The Problem We Solve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011680"/>
            <a:ext cx="2560320" cy="109728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2011680"/>
            <a:ext cx="2560320" cy="4572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48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487265"/>
                </a:solidFill>
                <a:latin typeface="Georgia"/>
              </a:defRPr>
            </a:pPr>
            <a:r>
              <a:t>83.6%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6060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of eligible families</a:t>
            </a:r>
            <a:br/>
            <a:r>
              <a:t>unaware of schemes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0" y="2011680"/>
            <a:ext cx="2560320" cy="109728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69680" y="2011680"/>
            <a:ext cx="2560320" cy="45720"/>
          </a:xfrm>
          <a:prstGeom prst="rect">
            <a:avLst/>
          </a:prstGeom>
          <a:solidFill>
            <a:srgbClr val="BC9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2148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BC976A"/>
                </a:solidFill>
                <a:latin typeface="Georgia"/>
              </a:defRPr>
            </a:pPr>
            <a:r>
              <a:t>50+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6060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government schemes</a:t>
            </a:r>
            <a:br/>
            <a:r>
              <a:t>fragmented across portals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383280"/>
            <a:ext cx="2560320" cy="109728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3383280"/>
            <a:ext cx="256032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520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C0392B"/>
                </a:solidFill>
                <a:latin typeface="Georgia"/>
              </a:defRPr>
            </a:pPr>
            <a:r>
              <a:t>42%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977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never apply because</a:t>
            </a:r>
            <a:br/>
            <a:r>
              <a:t>they don't know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3383280"/>
            <a:ext cx="2560320" cy="109728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0" y="3383280"/>
            <a:ext cx="2560320" cy="4572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3520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487265"/>
                </a:solidFill>
                <a:latin typeface="Georgia"/>
              </a:defRPr>
            </a:pPr>
            <a:r>
              <a:t>&lt;5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977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to match a child</a:t>
            </a:r>
            <a:br/>
            <a:r>
              <a:t>with SamarthSchool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Group Assignment — Gen AI: Pre-Trained Models (Course 8919)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943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98584"/>
                </a:solidFill>
                <a:latin typeface="Calibri"/>
              </a:defRPr>
            </a:pPr>
            <a:r>
              <a:t>GGU DBA Program via upGrad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92C33"/>
                </a:solidFill>
                <a:latin typeface="Georgia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India's disability benefits: generous policy, poor awareness, low uptake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371600" cy="36576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5720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87265"/>
                </a:solidFill>
                <a:latin typeface="Calibri"/>
              </a:defRPr>
            </a:pPr>
            <a:r>
              <a:t>THE AWARENESS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10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83.6% </a:t>
            </a:r>
            <a:r>
              <a:rPr sz="1200">
                <a:solidFill>
                  <a:srgbClr val="292C33"/>
                </a:solidFill>
                <a:latin typeface="Calibri"/>
              </a:rPr>
              <a:t>of eligible families unaware of scholarship schemes (IJPMR 2025)</a:t>
            </a:r>
          </a:p>
          <a:p>
            <a:pPr>
              <a:lnSpc>
                <a:spcPts val="1560"/>
              </a:lnSpc>
              <a:spcAft>
                <a:spcPts val="10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42% </a:t>
            </a:r>
            <a:r>
              <a:rPr sz="1200">
                <a:solidFill>
                  <a:srgbClr val="292C33"/>
                </a:solidFill>
                <a:latin typeface="Calibri"/>
              </a:rPr>
              <a:t>never apply — they don't know benefits exist (NILERD)</a:t>
            </a:r>
          </a:p>
          <a:p>
            <a:pPr>
              <a:lnSpc>
                <a:spcPts val="1560"/>
              </a:lnSpc>
              <a:spcAft>
                <a:spcPts val="10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71.2% </a:t>
            </a:r>
            <a:r>
              <a:rPr sz="1200">
                <a:solidFill>
                  <a:srgbClr val="292C33"/>
                </a:solidFill>
                <a:latin typeface="Calibri"/>
              </a:rPr>
              <a:t>lack a disability certificate — prerequisite for all schemes</a:t>
            </a:r>
          </a:p>
          <a:p>
            <a:pPr>
              <a:lnSpc>
                <a:spcPts val="1560"/>
              </a:lnSpc>
              <a:spcAft>
                <a:spcPts val="10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27% </a:t>
            </a:r>
            <a:r>
              <a:rPr sz="1200">
                <a:solidFill>
                  <a:srgbClr val="292C33"/>
                </a:solidFill>
                <a:latin typeface="Calibri"/>
              </a:rPr>
              <a:t>of children with disabilities (age 5-19) never enrolled in school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645920"/>
            <a:ext cx="3291840" cy="45720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87265"/>
                </a:solidFill>
                <a:latin typeface="Calibri"/>
              </a:defRPr>
            </a:pPr>
            <a:r>
              <a:t>THE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945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10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63.3M </a:t>
            </a:r>
            <a:r>
              <a:rPr sz="1200">
                <a:solidFill>
                  <a:srgbClr val="292C33"/>
                </a:solidFill>
                <a:latin typeface="Calibri"/>
              </a:rPr>
              <a:t>persons with disabilities (NFHS-5 prevalence estimate)</a:t>
            </a:r>
          </a:p>
          <a:p>
            <a:pPr>
              <a:lnSpc>
                <a:spcPts val="1560"/>
              </a:lnSpc>
              <a:spcAft>
                <a:spcPts val="10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18-20M </a:t>
            </a:r>
            <a:r>
              <a:rPr sz="1200">
                <a:solidFill>
                  <a:srgbClr val="292C33"/>
                </a:solidFill>
                <a:latin typeface="Calibri"/>
              </a:rPr>
              <a:t>children with disabilities in India</a:t>
            </a:r>
          </a:p>
          <a:p>
            <a:pPr>
              <a:lnSpc>
                <a:spcPts val="1560"/>
              </a:lnSpc>
              <a:spcAft>
                <a:spcPts val="10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2.27M </a:t>
            </a:r>
            <a:r>
              <a:rPr sz="1200">
                <a:solidFill>
                  <a:srgbClr val="292C33"/>
                </a:solidFill>
                <a:latin typeface="Calibri"/>
              </a:rPr>
              <a:t>CWSN enrolled in schools (UDISE+ FY2022)</a:t>
            </a:r>
          </a:p>
          <a:p>
            <a:pPr>
              <a:lnSpc>
                <a:spcPts val="1560"/>
              </a:lnSpc>
              <a:spcAft>
                <a:spcPts val="10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Rs 800 Cr </a:t>
            </a:r>
            <a:r>
              <a:rPr sz="1200">
                <a:solidFill>
                  <a:srgbClr val="292C33"/>
                </a:solidFill>
                <a:latin typeface="Calibri"/>
              </a:rPr>
              <a:t>annual Samagra Shiksha CWSN allocation — much underutilized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645920"/>
            <a:ext cx="3657600" cy="45720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737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87265"/>
                </a:solidFill>
                <a:latin typeface="Calibri"/>
              </a:defRPr>
            </a:pPr>
            <a:r>
              <a:t>WHY THE GAP PERSISTS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19456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800"/>
              </a:spcAft>
              <a:defRPr sz="1200">
                <a:solidFill>
                  <a:srgbClr val="292C33"/>
                </a:solidFill>
                <a:latin typeface="Calibri"/>
              </a:defRPr>
            </a:pPr>
            <a:r>
              <a:t>    50+ schemes across multiple ministries</a:t>
            </a:r>
          </a:p>
          <a:p>
            <a:pPr>
              <a:lnSpc>
                <a:spcPts val="1560"/>
              </a:lnSpc>
              <a:spcAft>
                <a:spcPts val="800"/>
              </a:spcAft>
              <a:defRPr sz="1200">
                <a:solidFill>
                  <a:srgbClr val="292C33"/>
                </a:solidFill>
                <a:latin typeface="Calibri"/>
              </a:defRPr>
            </a:pPr>
            <a:r>
              <a:t>    Information in PDFs, circulars, gazettes</a:t>
            </a:r>
          </a:p>
          <a:p>
            <a:pPr>
              <a:lnSpc>
                <a:spcPts val="1560"/>
              </a:lnSpc>
              <a:spcAft>
                <a:spcPts val="800"/>
              </a:spcAft>
              <a:defRPr sz="1200">
                <a:solidFill>
                  <a:srgbClr val="292C33"/>
                </a:solidFill>
                <a:latin typeface="Calibri"/>
              </a:defRPr>
            </a:pPr>
            <a:r>
              <a:t>    21 disability categories (RPwD 2016)</a:t>
            </a:r>
          </a:p>
          <a:p>
            <a:pPr>
              <a:lnSpc>
                <a:spcPts val="1560"/>
              </a:lnSpc>
              <a:spcAft>
                <a:spcPts val="800"/>
              </a:spcAft>
              <a:defRPr sz="1200">
                <a:solidFill>
                  <a:srgbClr val="292C33"/>
                </a:solidFill>
                <a:latin typeface="Calibri"/>
              </a:defRPr>
            </a:pPr>
            <a:r>
              <a:t>    Complex eligibility: disability type × % × age × income × state × gender</a:t>
            </a:r>
          </a:p>
          <a:p>
            <a:pPr>
              <a:lnSpc>
                <a:spcPts val="1560"/>
              </a:lnSpc>
              <a:spcAft>
                <a:spcPts val="800"/>
              </a:spcAft>
              <a:defRPr sz="1200">
                <a:solidFill>
                  <a:srgbClr val="292C33"/>
                </a:solidFill>
                <a:latin typeface="Calibri"/>
              </a:defRPr>
            </a:pPr>
            <a:r>
              <a:t>    22 official languages — content mostly in English/Hindi</a:t>
            </a:r>
          </a:p>
          <a:p>
            <a:pPr>
              <a:lnSpc>
                <a:spcPts val="1560"/>
              </a:lnSpc>
              <a:spcAft>
                <a:spcPts val="800"/>
              </a:spcAft>
              <a:defRPr sz="1200">
                <a:solidFill>
                  <a:srgbClr val="292C33"/>
                </a:solidFill>
                <a:latin typeface="Calibri"/>
              </a:defRPr>
            </a:pPr>
            <a:r>
              <a:t>    Schemes change via budget revisions &amp; circulars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9858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92C33"/>
                </a:solidFill>
                <a:latin typeface="Georgia"/>
              </a:defRPr>
            </a:pPr>
            <a:r>
              <a:t>Why Now — The Gen AI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Existing solutions failed. Gen AI changes the equation.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371600" cy="36576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411480"/>
          </a:xfrm>
          <a:prstGeom prst="rect">
            <a:avLst/>
          </a:prstGeom>
          <a:solidFill>
            <a:srgbClr val="F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0392B"/>
                </a:solidFill>
                <a:latin typeface="Calibri"/>
              </a:defRPr>
            </a:pPr>
            <a:r>
              <a:t>WHAT HAS BEEN TRIED (AND FAILED)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10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MyScheme (myscheme.gov.in): </a:t>
            </a:r>
            <a:r>
              <a:rPr sz="1200">
                <a:solidFill>
                  <a:srgbClr val="292C33"/>
                </a:solidFill>
                <a:latin typeface="Calibri"/>
              </a:rPr>
              <a:t>Generic, form-based, 15+ fields. Solves matching but not discovery or guidance.</a:t>
            </a:r>
          </a:p>
          <a:p>
            <a:pPr>
              <a:lnSpc>
                <a:spcPts val="1560"/>
              </a:lnSpc>
              <a:spcAft>
                <a:spcPts val="10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UDID Portal: </a:t>
            </a:r>
            <a:r>
              <a:rPr sz="1200">
                <a:solidFill>
                  <a:srgbClr val="292C33"/>
                </a:solidFill>
                <a:latin typeface="Calibri"/>
              </a:rPr>
              <a:t>Registration system, not a navigator. Creates the ID but doesn't tell families what to do with it.</a:t>
            </a:r>
          </a:p>
          <a:p>
            <a:pPr>
              <a:lnSpc>
                <a:spcPts val="1560"/>
              </a:lnSpc>
              <a:spcAft>
                <a:spcPts val="10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Haqdarshak (40M+ users): </a:t>
            </a:r>
            <a:r>
              <a:rPr sz="1200">
                <a:solidFill>
                  <a:srgbClr val="292C33"/>
                </a:solidFill>
                <a:latin typeface="Calibri"/>
              </a:rPr>
              <a:t>Not disability-specialized. Lacks depth for 21 RPwD categories. Per-transaction fee model.</a:t>
            </a:r>
          </a:p>
          <a:p>
            <a:pPr>
              <a:lnSpc>
                <a:spcPts val="1560"/>
              </a:lnSpc>
              <a:spcAft>
                <a:spcPts val="10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NGO Workshops: </a:t>
            </a:r>
            <a:r>
              <a:rPr sz="1200">
                <a:solidFill>
                  <a:srgbClr val="292C33"/>
                </a:solidFill>
                <a:latin typeface="Calibri"/>
              </a:rPr>
              <a:t>Effective but not scalable. Reaches 50-100 families per event.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303520" cy="411480"/>
          </a:xfrm>
          <a:prstGeom prst="rect">
            <a:avLst/>
          </a:prstGeom>
          <a:solidFill>
            <a:srgbClr val="DD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87265"/>
                </a:solidFill>
                <a:latin typeface="Calibri"/>
              </a:defRPr>
            </a:pPr>
            <a:r>
              <a:t>WHAT GEN AI ENABLES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10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Natural Language Queries: </a:t>
            </a:r>
            <a:r>
              <a:rPr sz="1200">
                <a:solidFill>
                  <a:srgbClr val="292C33"/>
                </a:solidFill>
                <a:latin typeface="Calibri"/>
              </a:rPr>
              <a:t>"10-year-old girl, hearing impairment, Tamil Nadu government school" → personalized results</a:t>
            </a:r>
          </a:p>
          <a:p>
            <a:pPr>
              <a:lnSpc>
                <a:spcPts val="1560"/>
              </a:lnSpc>
              <a:spcAft>
                <a:spcPts val="10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Knowledge Graph Reasoning: </a:t>
            </a:r>
            <a:r>
              <a:rPr sz="1200">
                <a:solidFill>
                  <a:srgbClr val="292C33"/>
                </a:solidFill>
                <a:latin typeface="Calibri"/>
              </a:rPr>
              <a:t>Structured eligibility matching across all 21 disability categories × 50+ schemes</a:t>
            </a:r>
          </a:p>
          <a:p>
            <a:pPr>
              <a:lnSpc>
                <a:spcPts val="1560"/>
              </a:lnSpc>
              <a:spcAft>
                <a:spcPts val="10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Multilingual Generation: </a:t>
            </a:r>
            <a:r>
              <a:rPr sz="1200">
                <a:solidFill>
                  <a:srgbClr val="292C33"/>
                </a:solidFill>
                <a:latin typeface="Calibri"/>
              </a:rPr>
              <a:t>bge-m3 cross-lingual embeddings + IndicTrans2 for 22 languages</a:t>
            </a:r>
          </a:p>
          <a:p>
            <a:pPr>
              <a:lnSpc>
                <a:spcPts val="1560"/>
              </a:lnSpc>
              <a:spcAft>
                <a:spcPts val="10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Continuous Updates: </a:t>
            </a:r>
            <a:r>
              <a:rPr sz="1200">
                <a:solidFill>
                  <a:srgbClr val="292C33"/>
                </a:solidFill>
                <a:latin typeface="Calibri"/>
              </a:rPr>
              <a:t>Automated crawling + change detection keeps scheme data current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303520"/>
            <a:ext cx="10789920" cy="9144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349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Key Insight: Existing solutions treat this as a SEARCH problem. SamarthSchool treats it as a</a:t>
            </a:r>
            <a:br/>
            <a:r>
              <a:t>NAVIGATION problem — "given this child's situation, here is everything they're entitled to, how to apply,</a:t>
            </a:r>
            <a:br/>
            <a:r>
              <a:t>and what documents to prepare."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98584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92C33"/>
                </a:solidFill>
                <a:latin typeface="Georgia"/>
              </a:defRPr>
            </a:pPr>
            <a:r>
              <a:t>Solution — GraphRAG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Structured reasoning via Knowledge Graph + natural language via 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371600" cy="36576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2286000" cy="164592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487265"/>
                </a:solidFill>
                <a:latin typeface="Calibri"/>
              </a:defRPr>
            </a:pPr>
            <a:r>
              <a:t>DATA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Web Crawler (Scrapy)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PDF Parser (Docling + Surya)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Gazette RSS Monitor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Manual Curation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8726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737360"/>
            <a:ext cx="2560320" cy="1645920"/>
          </a:xfrm>
          <a:prstGeom prst="rect">
            <a:avLst/>
          </a:prstGeom>
          <a:solidFill>
            <a:srgbClr val="DD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783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487265"/>
                </a:solidFill>
                <a:latin typeface="Calibri"/>
              </a:defRPr>
            </a:pPr>
            <a:r>
              <a:t>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031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 b="1">
                <a:solidFill>
                  <a:srgbClr val="487265"/>
                </a:solidFill>
                <a:latin typeface="Calibri"/>
              </a:rPr>
              <a:t>Neo4j: </a:t>
            </a:r>
            <a:r>
              <a:rPr sz="1000">
                <a:solidFill>
                  <a:srgbClr val="292C33"/>
                </a:solidFill>
                <a:latin typeface="Calibri"/>
              </a:rPr>
              <a:t>Knowledge Graph
    (scheme eligibility rules)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 b="1">
                <a:solidFill>
                  <a:srgbClr val="487265"/>
                </a:solidFill>
                <a:latin typeface="Calibri"/>
              </a:rPr>
              <a:t>Qdrant: </a:t>
            </a:r>
            <a:r>
              <a:rPr sz="1000">
                <a:solidFill>
                  <a:srgbClr val="292C33"/>
                </a:solidFill>
                <a:latin typeface="Calibri"/>
              </a:rPr>
              <a:t>Vector Store
    (document embeddings, bge-m3)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 b="1">
                <a:solidFill>
                  <a:srgbClr val="487265"/>
                </a:solidFill>
                <a:latin typeface="Calibri"/>
              </a:rPr>
              <a:t>PostgreSQL: </a:t>
            </a:r>
            <a:r>
              <a:rPr sz="1000">
                <a:solidFill>
                  <a:srgbClr val="292C33"/>
                </a:solidFill>
                <a:latin typeface="Calibri"/>
              </a:rPr>
              <a:t>User data, audit 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8726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737360"/>
            <a:ext cx="2560320" cy="164592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783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487265"/>
                </a:solidFill>
                <a:latin typeface="Calibri"/>
              </a:defRPr>
            </a:pPr>
            <a:r>
              <a:t>QUERY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1031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 b="1">
                <a:solidFill>
                  <a:srgbClr val="487265"/>
                </a:solidFill>
                <a:latin typeface="Calibri"/>
              </a:rPr>
              <a:t>Eligibility: </a:t>
            </a:r>
            <a:r>
              <a:rPr sz="1000">
                <a:solidFill>
                  <a:srgbClr val="292C33"/>
                </a:solidFill>
                <a:latin typeface="Calibri"/>
              </a:rPr>
              <a:t>→ KG (Cypher query)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 b="1">
                <a:solidFill>
                  <a:srgbClr val="487265"/>
                </a:solidFill>
                <a:latin typeface="Calibri"/>
              </a:rPr>
              <a:t>Explanation: </a:t>
            </a:r>
            <a:r>
              <a:rPr sz="1000">
                <a:solidFill>
                  <a:srgbClr val="292C33"/>
                </a:solidFill>
                <a:latin typeface="Calibri"/>
              </a:rPr>
              <a:t>→ RAG (vector search)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 b="1">
                <a:solidFill>
                  <a:srgbClr val="487265"/>
                </a:solidFill>
                <a:latin typeface="Calibri"/>
              </a:rPr>
              <a:t>Complex: </a:t>
            </a:r>
            <a:r>
              <a:rPr sz="1000">
                <a:solidFill>
                  <a:srgbClr val="292C33"/>
                </a:solidFill>
                <a:latin typeface="Calibri"/>
              </a:rPr>
              <a:t>→ Hybrid (both)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8726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1737360"/>
            <a:ext cx="1828800" cy="164592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1783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1031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    Gemini 2.0 Flash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    User's language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    Citations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    Confidence score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    Advisory disclaimer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490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92C33"/>
                </a:solidFill>
                <a:latin typeface="Georgia"/>
              </a:defRPr>
            </a:pPr>
            <a:r>
              <a:t>Technology Stack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31520" y="4114800"/>
          <a:ext cx="10789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576072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4872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4872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48726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BAAI/bge-m3 (1024d)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Multilingual; dense+sparse 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Vector DB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Qdrant (self-hosted)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Sparse vector support; 4GB RAM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Graph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Neo4j Community 5.x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Cypher queries; scheme ontology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LLM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Gemini 2.0 Flash (paid)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Best Hindi generation; $0.075/1M tokens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LlamaIndex PropertyGraphIndex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Native GraphRAG; Qdrant+Neo4j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Multilingual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IndicTrans2 + IndicXlit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22 Indian languages; transliteration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React + Next.js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WCAG 2.1 AA; mobile-first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98584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92C33"/>
                </a:solidFill>
                <a:latin typeface="Georgia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From natural language query to personalized action plan in &lt;5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371600" cy="36576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87265"/>
                </a:solidFill>
                <a:latin typeface="Calibri"/>
              </a:defRPr>
            </a:pPr>
            <a:r>
              <a:t>EXAMPLE QUERY: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92C33"/>
                </a:solidFill>
                <a:latin typeface="Georgia"/>
              </a:defRPr>
            </a:pPr>
            <a:r>
              <a:t>"I have a 12-year-old boy with 50% locomotor disability in a government school in Karnataka. Family income is Rs 1.5 lakh per year. What benefits is he eligible for?"</a:t>
            </a:r>
          </a:p>
        </p:txBody>
      </p:sp>
      <p:sp>
        <p:nvSpPr>
          <p:cNvPr id="8" name="Oval 7"/>
          <p:cNvSpPr/>
          <p:nvPr/>
        </p:nvSpPr>
        <p:spPr>
          <a:xfrm>
            <a:off x="1463040" y="2926080"/>
            <a:ext cx="457200" cy="457200"/>
          </a:xfrm>
          <a:prstGeom prst="ellipse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29443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87265"/>
                </a:solidFill>
                <a:latin typeface="Calibri"/>
              </a:defRPr>
            </a:pPr>
            <a:r>
              <a:t>DESCRIBE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947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School admin describes</a:t>
            </a:r>
            <a:br/>
            <a:r>
              <a:t>child's situation in</a:t>
            </a:r>
            <a:br/>
            <a:r>
              <a:t>natural language</a:t>
            </a:r>
            <a:br/>
            <a:r>
              <a:t>(any Indian language)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89858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3749040" y="2926080"/>
            <a:ext cx="457200" cy="457200"/>
          </a:xfrm>
          <a:prstGeom prst="ellipse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29443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474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87265"/>
                </a:solidFill>
                <a:latin typeface="Calibri"/>
              </a:defRPr>
            </a:pPr>
            <a:r>
              <a:t>DETECT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7947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System detects language</a:t>
            </a:r>
            <a:br/>
            <a:r>
              <a:t>(fastText lid.176)</a:t>
            </a:r>
            <a:br/>
            <a:r>
              <a:t>Translates for KG query</a:t>
            </a:r>
            <a:br/>
            <a:r>
              <a:t>Keeps original for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89858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0" y="2926080"/>
            <a:ext cx="457200" cy="457200"/>
          </a:xfrm>
          <a:prstGeom prst="ellipse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29443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474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87265"/>
                </a:solidFill>
                <a:latin typeface="Calibri"/>
              </a:defRPr>
            </a:pPr>
            <a:r>
              <a:t>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7947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Knowledge Graph filters</a:t>
            </a:r>
            <a:br/>
            <a:r>
              <a:t>eligible schemes via</a:t>
            </a:r>
            <a:br/>
            <a:r>
              <a:t>Cypher: disability type ×</a:t>
            </a:r>
            <a:br/>
            <a:r>
              <a:t>% × age × income ×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89858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8321040" y="2926080"/>
            <a:ext cx="457200" cy="457200"/>
          </a:xfrm>
          <a:prstGeom prst="ellipse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29443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474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87265"/>
                </a:solidFill>
                <a:latin typeface="Calibri"/>
              </a:defRPr>
            </a:pPr>
            <a:r>
              <a:t>EXPLAIN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7947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RAG retrieves scheme</a:t>
            </a:r>
            <a:br/>
            <a:r>
              <a:t>documents, generates</a:t>
            </a:r>
            <a:br/>
            <a:r>
              <a:t>explanations, documents</a:t>
            </a:r>
            <a:br/>
            <a:r>
              <a:t>needed, application steps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89858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10607040" y="2926080"/>
            <a:ext cx="457200" cy="457200"/>
          </a:xfrm>
          <a:prstGeom prst="ellipse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52760" y="29443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474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87265"/>
                </a:solidFill>
                <a:latin typeface="Calibri"/>
              </a:defRPr>
            </a:pPr>
            <a:r>
              <a:t>RESPOND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7947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Complete action plan</a:t>
            </a:r>
            <a:br/>
            <a:r>
              <a:t>in user's language:</a:t>
            </a:r>
            <a:br/>
            <a:r>
              <a:t>8-12 matching schemes</a:t>
            </a:r>
            <a:br/>
            <a:r>
              <a:t>with citations &amp; disclaimer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303520"/>
            <a:ext cx="10789920" cy="1005840"/>
          </a:xfrm>
          <a:prstGeom prst="rect">
            <a:avLst/>
          </a:prstGeom>
          <a:solidFill>
            <a:srgbClr val="DD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34924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87265"/>
                </a:solidFill>
                <a:latin typeface="Calibri"/>
              </a:defRPr>
            </a:pPr>
            <a:r>
              <a:t>RESULT FOR THE EXAMPLE QUERY: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6235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92C33"/>
                </a:solidFill>
                <a:latin typeface="Calibri"/>
              </a:defRPr>
            </a:pPr>
            <a:r>
              <a:t>Pre-Matric Scholarship (Rs 6,000 + Rs 1,000 books)  •  Samagra Shiksha CWSN (Rs 3,500/yr)  •  ADIP Assistive Device (Rs 15,000)  •  Karnataka State Disability Pension  •  Niramaya Health Insurance  •  National Trust Schemes  •  ... + 2-6 more state-specific schemes — with documents needed, portal links, and step-by-step application guidance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98584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92C33"/>
                </a:solidFill>
                <a:latin typeface="Georgia"/>
              </a:defRPr>
            </a:pPr>
            <a:r>
              <a:t>Product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From MVP to national scale in 36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371600" cy="36576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651760" cy="438912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651760" cy="64008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1: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DDDD"/>
                </a:solidFill>
                <a:latin typeface="Calibri"/>
              </a:defRPr>
            </a:pPr>
            <a:r>
              <a:t>Months 0-3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50+ central schemes in KG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English + Hindi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Basic web interface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RAGAS evaluation suite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5 pilot schools in 1 city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5394960"/>
            <a:ext cx="1554480" cy="548640"/>
          </a:xfrm>
          <a:prstGeom prst="rect">
            <a:avLst/>
          </a:prstGeom>
          <a:solidFill>
            <a:srgbClr val="DD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41324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87265"/>
                </a:solidFill>
                <a:latin typeface="Calibri"/>
              </a:defRPr>
            </a:pPr>
            <a:r>
              <a:t>5</a:t>
            </a:r>
            <a:br/>
            <a:r>
              <a:t>schools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8726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645920"/>
            <a:ext cx="2651760" cy="438912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645920"/>
            <a:ext cx="2651760" cy="640080"/>
          </a:xfrm>
          <a:prstGeom prst="rect">
            <a:avLst/>
          </a:prstGeom>
          <a:solidFill>
            <a:srgbClr val="355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664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2: BETA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DDDD"/>
                </a:solidFill>
                <a:latin typeface="Calibri"/>
              </a:defRPr>
            </a:pPr>
            <a:r>
              <a:t>Months 3-6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4231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+5 states (MH, KA, TN, DL, RJ)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+4 languages (Tamil, Kannada, Marathi)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Document checklist generator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Application guidance module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25 schools across 3 cities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5394960"/>
            <a:ext cx="1554480" cy="548640"/>
          </a:xfrm>
          <a:prstGeom prst="rect">
            <a:avLst/>
          </a:prstGeom>
          <a:solidFill>
            <a:srgbClr val="DD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541324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87265"/>
                </a:solidFill>
                <a:latin typeface="Calibri"/>
              </a:defRPr>
            </a:pPr>
            <a:r>
              <a:t>25</a:t>
            </a:r>
            <a:br/>
            <a:r>
              <a:t>schools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8726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645920"/>
            <a:ext cx="2651760" cy="438912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645920"/>
            <a:ext cx="2651760" cy="640080"/>
          </a:xfrm>
          <a:prstGeom prst="rect">
            <a:avLst/>
          </a:prstGeom>
          <a:solidFill>
            <a:srgbClr val="355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664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3: v1.0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DDDD"/>
                </a:solidFill>
                <a:latin typeface="Calibri"/>
              </a:defRPr>
            </a:pPr>
            <a:r>
              <a:t>Months 6-12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4231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10 states (80%+ PwD coverage)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DPDP Act + GIGW compliance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WhatsApp chatbot interface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Analytics dashboard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Offline district-hub mode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100 schools, 5 states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5394960"/>
            <a:ext cx="1554480" cy="548640"/>
          </a:xfrm>
          <a:prstGeom prst="rect">
            <a:avLst/>
          </a:prstGeom>
          <a:solidFill>
            <a:srgbClr val="DD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541324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87265"/>
                </a:solidFill>
                <a:latin typeface="Calibri"/>
              </a:defRPr>
            </a:pPr>
            <a:r>
              <a:t>100</a:t>
            </a:r>
            <a:br/>
            <a:r>
              <a:t>schools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8726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1645920"/>
            <a:ext cx="2651760" cy="438912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61120" y="1645920"/>
            <a:ext cx="2651760" cy="640080"/>
          </a:xfrm>
          <a:prstGeom prst="rect">
            <a:avLst/>
          </a:prstGeom>
          <a:solidFill>
            <a:srgbClr val="355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1664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4: SCALE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DDDD"/>
                </a:solidFill>
                <a:latin typeface="Calibri"/>
              </a:defRPr>
            </a:pPr>
            <a:r>
              <a:t>Years 1-3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24231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All 28 states + 8 UTs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B2G integration (UDID, Samagra)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Agentic workflows (advisory)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KG API for researchers/NGOs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Bhashini 22-language support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10,000+ schools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9760" y="5394960"/>
            <a:ext cx="1554480" cy="548640"/>
          </a:xfrm>
          <a:prstGeom prst="rect">
            <a:avLst/>
          </a:prstGeom>
          <a:solidFill>
            <a:srgbClr val="DD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541324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87265"/>
                </a:solidFill>
                <a:latin typeface="Calibri"/>
              </a:defRPr>
            </a:pPr>
            <a:r>
              <a:t>10,000+</a:t>
            </a:r>
            <a:br/>
            <a:r>
              <a:t>schools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98584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92C33"/>
                </a:solidFill>
                <a:latin typeface="Georgia"/>
              </a:defRPr>
            </a:pPr>
            <a:r>
              <a:t>Adoption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Go through existing networks, not cold outreach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371600" cy="36576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83280" cy="210312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783080"/>
            <a:ext cx="1097280" cy="27432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92C33"/>
                </a:solidFill>
                <a:latin typeface="Georgia"/>
              </a:defRPr>
            </a:pPr>
            <a:r>
              <a:t>CWSN Coordinators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Every district has a CWSN coordinator under Samagra Shiksha whose job is ensuring benefit uptake. SamarthSchool becomes their tool — aligned incentives.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383280" cy="210312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783080"/>
            <a:ext cx="1097280" cy="27432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830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Partners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48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92C33"/>
                </a:solidFill>
                <a:latin typeface="Georgia"/>
              </a:defRPr>
            </a:pPr>
            <a:r>
              <a:t>NGO Amplification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468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Samarthanam Trust, CBM India, Sense International already do school outreach. SamarthSchool is a tool they use during visits, not a standalone product.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3383280" cy="210312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1783080"/>
            <a:ext cx="1097280" cy="27432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7830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148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92C33"/>
                </a:solidFill>
                <a:latin typeface="Georgia"/>
              </a:defRPr>
            </a:pPr>
            <a:r>
              <a:t>WhatsApp-First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468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500M+ Indian WhatsApp users. No app install needed. A CWSN coordinator queries for multiple schools from their phone.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023360"/>
            <a:ext cx="5212080" cy="201168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60520"/>
            <a:ext cx="1645920" cy="274320"/>
          </a:xfrm>
          <a:prstGeom prst="rect">
            <a:avLst/>
          </a:prstGeom>
          <a:solidFill>
            <a:srgbClr val="BC9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605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Sales Collateral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26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92C33"/>
                </a:solidFill>
                <a:latin typeface="Georgia"/>
              </a:defRPr>
            </a:pPr>
            <a:r>
              <a:t>Pilot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920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5-school MVP generates before/after data: "20 CWSN accessed 6 benefits → now 38." This evidence sells the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023360"/>
            <a:ext cx="5212080" cy="201168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160520"/>
            <a:ext cx="1645920" cy="274320"/>
          </a:xfrm>
          <a:prstGeom prst="rect">
            <a:avLst/>
          </a:prstGeom>
          <a:solidFill>
            <a:srgbClr val="BC9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1605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vs. MyScheme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26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92C33"/>
                </a:solidFill>
                <a:latin typeface="Georgia"/>
              </a:defRPr>
            </a:pPr>
            <a:r>
              <a:t>Navigator vs.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8920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MyScheme: 15+ form fields, generic, user must know to search. SamarthSchool: describe the child, get a complete action plan. UX gap = adoption driver.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98584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92C33"/>
                </a:solidFill>
                <a:latin typeface="Georgia"/>
              </a:defRPr>
            </a:pPr>
            <a:r>
              <a:t>ROI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Conservative projections with derived benefit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371600" cy="36576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6858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1371600"/>
                <a:gridCol w="155448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4872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4872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4872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48726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Schools served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Children impacted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750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3,000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7,500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Additional benefits/child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Total benefit applications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1,275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6,000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18,750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Value of benefits applied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INR 41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INR 1.92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INR 6.0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Total cost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INR 2.09 Cr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INR 2.46 Cr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INR 2.75 Cr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Social ROI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0.20x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0.78x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2.2x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92C33"/>
                </a:solidFill>
                <a:latin typeface="Georgia"/>
              </a:defRPr>
            </a:pPr>
            <a:r>
              <a:t>Key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0"/>
              </a:lnSpc>
              <a:spcAft>
                <a:spcPts val="1200"/>
              </a:spcAft>
            </a:pPr>
            <a:r>
              <a:rPr sz="1100" b="1">
                <a:solidFill>
                  <a:srgbClr val="487265"/>
                </a:solidFill>
                <a:latin typeface="Calibri"/>
              </a:rPr>
              <a:t>Rs 3,200 </a:t>
            </a:r>
            <a:r>
              <a:rPr sz="1100">
                <a:solidFill>
                  <a:srgbClr val="292C33"/>
                </a:solidFill>
                <a:latin typeface="Calibri"/>
              </a:rPr>
              <a:t>weighted avg benefit value
(derived from actual scheme amounts)</a:t>
            </a:r>
          </a:p>
          <a:p>
            <a:pPr>
              <a:lnSpc>
                <a:spcPts val="1430"/>
              </a:lnSpc>
              <a:spcAft>
                <a:spcPts val="1200"/>
              </a:spcAft>
            </a:pPr>
            <a:r>
              <a:rPr sz="1100" b="1">
                <a:solidFill>
                  <a:srgbClr val="487265"/>
                </a:solidFill>
                <a:latin typeface="Calibri"/>
              </a:rPr>
              <a:t>15 CWSN </a:t>
            </a:r>
            <a:r>
              <a:rPr sz="1100">
                <a:solidFill>
                  <a:srgbClr val="292C33"/>
                </a:solidFill>
                <a:latin typeface="Calibri"/>
              </a:rPr>
              <a:t>per school average
(from UDISE+ data)</a:t>
            </a:r>
          </a:p>
          <a:p>
            <a:pPr>
              <a:lnSpc>
                <a:spcPts val="1430"/>
              </a:lnSpc>
              <a:spcAft>
                <a:spcPts val="1200"/>
              </a:spcAft>
            </a:pPr>
            <a:r>
              <a:rPr sz="1100" b="1">
                <a:solidFill>
                  <a:srgbClr val="487265"/>
                </a:solidFill>
                <a:latin typeface="Calibri"/>
              </a:rPr>
              <a:t>50→200→500 </a:t>
            </a:r>
            <a:r>
              <a:rPr sz="1100">
                <a:solidFill>
                  <a:srgbClr val="292C33"/>
                </a:solidFill>
                <a:latin typeface="Calibri"/>
              </a:rPr>
              <a:t>school growth
(conservative; B2G takes 12-24 months)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3931920"/>
            <a:ext cx="3657600" cy="13716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4023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87265"/>
                </a:solidFill>
                <a:latin typeface="Calibri"/>
              </a:defRPr>
            </a:pPr>
            <a:r>
              <a:t>BREAK-EVEN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3434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Year 4-5 with B2G contracts from 2-3 state education departments. Consistent with social venture norms — Haqdarshak operated on grant/impact funding for 5+ years.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92C33"/>
                </a:solidFill>
                <a:latin typeface="Georgia"/>
              </a:defRPr>
            </a:pPr>
            <a:r>
              <a:t>Sensitivity Analysis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5394960"/>
          <a:ext cx="6858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1371600"/>
                <a:gridCol w="155448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4872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Schools (Y3)</a:t>
                      </a:r>
                    </a:p>
                  </a:txBody>
                  <a:tcPr>
                    <a:solidFill>
                      <a:srgbClr val="4872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Revenue (Y3)</a:t>
                      </a:r>
                    </a:p>
                  </a:txBody>
                  <a:tcPr>
                    <a:solidFill>
                      <a:srgbClr val="4872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Net Position</a:t>
                      </a:r>
                    </a:p>
                  </a:txBody>
                  <a:tcPr>
                    <a:solidFill>
                      <a:srgbClr val="48726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Pessimistic (50% adoption)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INR 1.0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-INR 1.75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Base case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INR 2.0 Cr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-INR 0.75 Cr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Optimistic (B2G in Y2)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INR 4.0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+INR 1.25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98584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92C33"/>
                </a:solidFill>
                <a:latin typeface="Georgia"/>
              </a:defRPr>
            </a:pPr>
            <a:r>
              <a:t>Competitive Moat &amp; Unique Aspects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371600" cy="36576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32004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83280" cy="4572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87265"/>
                </a:solidFill>
                <a:latin typeface="Georgia"/>
              </a:defRPr>
            </a:pPr>
            <a:r>
              <a:t>DATA MOAT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0"/>
              </a:lnSpc>
              <a:spcAft>
                <a:spcPts val="6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First machine-queryable ontology of Indian disability welfare schemes</a:t>
            </a:r>
          </a:p>
          <a:p>
            <a:pPr>
              <a:lnSpc>
                <a:spcPts val="1430"/>
              </a:lnSpc>
              <a:spcAft>
                <a:spcPts val="6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50+ schemes with eligibility rules as graph-traversable entities</a:t>
            </a:r>
          </a:p>
          <a:p>
            <a:pPr>
              <a:lnSpc>
                <a:spcPts val="1430"/>
              </a:lnSpc>
              <a:spcAft>
                <a:spcPts val="6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Deepens over time: state expansion, validation, usage patterns</a:t>
            </a:r>
          </a:p>
          <a:p>
            <a:pPr>
              <a:lnSpc>
                <a:spcPts val="1430"/>
              </a:lnSpc>
              <a:spcAft>
                <a:spcPts val="6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Requires domain expertise + NGO partnerships + continuous curation</a:t>
            </a:r>
          </a:p>
          <a:p>
            <a:pPr>
              <a:lnSpc>
                <a:spcPts val="1430"/>
              </a:lnSpc>
              <a:spcAft>
                <a:spcPts val="6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Not easily replicable by competitors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383280" cy="32004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383280" cy="45720"/>
          </a:xfrm>
          <a:prstGeom prst="rect">
            <a:avLst/>
          </a:prstGeom>
          <a:solidFill>
            <a:srgbClr val="BC9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C976A"/>
                </a:solidFill>
                <a:latin typeface="Georgia"/>
              </a:defRPr>
            </a:pPr>
            <a:r>
              <a:t>IP &amp;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402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0"/>
              </a:lnSpc>
              <a:spcAft>
                <a:spcPts val="6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Patent potential: structured eligibility determination for Indian welfare</a:t>
            </a:r>
          </a:p>
          <a:p>
            <a:pPr>
              <a:lnSpc>
                <a:spcPts val="1430"/>
              </a:lnSpc>
              <a:spcAft>
                <a:spcPts val="6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Novel domain application (not novel technique)</a:t>
            </a:r>
          </a:p>
          <a:p>
            <a:pPr>
              <a:lnSpc>
                <a:spcPts val="1430"/>
              </a:lnSpc>
              <a:spcAft>
                <a:spcPts val="6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Publishable at: ICTD, ACM DEV, AAAI AI4SG Workshop, CHI LBW</a:t>
            </a:r>
          </a:p>
          <a:p>
            <a:pPr>
              <a:lnSpc>
                <a:spcPts val="1430"/>
              </a:lnSpc>
              <a:spcAft>
                <a:spcPts val="6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Benchmark dataset: 200+ eligibility queries with ground-truth</a:t>
            </a:r>
          </a:p>
          <a:p>
            <a:pPr>
              <a:lnSpc>
                <a:spcPts val="1430"/>
              </a:lnSpc>
              <a:spcAft>
                <a:spcPts val="6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GraphRAG vs. pure RAG evaluation for policy matching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383280" cy="32004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645920"/>
            <a:ext cx="3383280" cy="45720"/>
          </a:xfrm>
          <a:prstGeom prst="rect">
            <a:avLst/>
          </a:prstGeom>
          <a:solidFill>
            <a:srgbClr val="D4C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A09050"/>
                </a:solidFill>
                <a:latin typeface="Georgia"/>
              </a:defRPr>
            </a:pPr>
            <a:r>
              <a:t>MARKET POSITION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2402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0"/>
              </a:lnSpc>
              <a:spcAft>
                <a:spcPts val="6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Intersection: Disability inclusion × GovTech × EdTech</a:t>
            </a:r>
          </a:p>
          <a:p>
            <a:pPr>
              <a:lnSpc>
                <a:spcPts val="1430"/>
              </a:lnSpc>
              <a:spcAft>
                <a:spcPts val="6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CSR pool: Rs 29,987 Cr ($3.6B), 44% to education/disability</a:t>
            </a:r>
          </a:p>
          <a:p>
            <a:pPr>
              <a:lnSpc>
                <a:spcPts val="1430"/>
              </a:lnSpc>
              <a:spcAft>
                <a:spcPts val="6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Impact investors: AssisTech Foundation, Aavishkaar, Omidyar</a:t>
            </a:r>
          </a:p>
          <a:p>
            <a:pPr>
              <a:lnSpc>
                <a:spcPts val="1430"/>
              </a:lnSpc>
              <a:spcAft>
                <a:spcPts val="6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Social Stock Exchange listing pathway</a:t>
            </a:r>
          </a:p>
          <a:p>
            <a:pPr>
              <a:lnSpc>
                <a:spcPts val="1430"/>
              </a:lnSpc>
              <a:spcAft>
                <a:spcPts val="6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India EdTech: $3.6-12.1B at 27% CAGR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92C33"/>
                </a:solidFill>
                <a:latin typeface="Georgia"/>
              </a:defRPr>
            </a:pPr>
            <a:r>
              <a:t>Competitive Comparison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31520" y="5394960"/>
          <a:ext cx="10789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286000"/>
                <a:gridCol w="347472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4872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MyScheme</a:t>
                      </a:r>
                    </a:p>
                  </a:txBody>
                  <a:tcPr>
                    <a:solidFill>
                      <a:srgbClr val="4872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Haqdarshak</a:t>
                      </a:r>
                    </a:p>
                  </a:txBody>
                  <a:tcPr>
                    <a:solidFill>
                      <a:srgbClr val="4872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SamarthSchool</a:t>
                      </a:r>
                    </a:p>
                  </a:txBody>
                  <a:tcPr>
                    <a:solidFill>
                      <a:srgbClr val="48726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Disability-specialized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Yes (21 categories)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Natural language queries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No (form-based)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Yes (multilingual)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Knowledge Graph reasoning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Rule-based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Yes (Neo4j + Cypher)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School-admin workflow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Yes (designed for schools)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Eligibility + guidance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Eligibility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Full action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98584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The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828800" cy="36576"/>
          </a:xfrm>
          <a:prstGeom prst="rect">
            <a:avLst/>
          </a:prstGeom>
          <a:solidFill>
            <a:srgbClr val="D4C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CDDDD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  2 ML Engineers (RAG/KG)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  1 Full-Stack Developer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  1 Disability Domain Expert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  1 Policy Researcher / KG Curator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  1 Product Manager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  0.5 DevOps (part-time)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CDDDD"/>
                </a:solidFill>
                <a:latin typeface="Calibri"/>
              </a:defRPr>
            </a:pPr>
            <a:r>
              <a:t>FUNDING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26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INR 2.1 Crore (Year 1)</a:t>
            </a:r>
            <a:br/>
            <a:r>
              <a:t>CSR/grant funded — Tata Trusts, Infosys Foundation, Wipro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CDDDD"/>
                </a:solidFill>
                <a:latin typeface="Calibri"/>
              </a:defRPr>
            </a:pPr>
            <a:r>
              <a:t>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321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MVP in 3 months → Pilot evidence in 6 months</a:t>
            </a:r>
            <a:br/>
            <a:r>
              <a:t>→ 100 schools by Month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371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92C33"/>
                </a:solidFill>
                <a:latin typeface="Georgia"/>
              </a:defRPr>
            </a:pPr>
            <a:r>
              <a:t>The Success Metric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2011680"/>
            <a:ext cx="5943600" cy="18288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1945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92C33"/>
                </a:solidFill>
                <a:latin typeface="Calibri"/>
              </a:defRPr>
            </a:pPr>
            <a:r>
              <a:t>If 5 pilot schools demonstrate a measurable increase in benefits accessed by children with special abilities, the evidence unlocks everything:</a:t>
            </a:r>
            <a:br/>
            <a:br/>
            <a:r>
              <a:t>→ B2G procurement from state education departments</a:t>
            </a:r>
            <a:br/>
            <a:r>
              <a:t>→ Impact investment (AssisTech, Aavishkaar, Omidyar)</a:t>
            </a:r>
            <a:br/>
            <a:r>
              <a:t>→ National scale via Samagra Shiksha network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4389120"/>
            <a:ext cx="5943600" cy="164592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457200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Georgia"/>
              </a:defRPr>
            </a:pPr>
            <a:r>
              <a:t>"Every child with special abilities</a:t>
            </a:r>
            <a:br/>
            <a:r>
              <a:t>deserves every benefit they're entitled to.</a:t>
            </a:r>
            <a:br/>
            <a:br/>
            <a:r>
              <a:t>SamarthSchool makes that possible."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98584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